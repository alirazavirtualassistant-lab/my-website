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59669"/>
            </a:solidFill>
            <a:ln w="381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59669"/>
              </a:solidFill>
              <a:ln w="25400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May'25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Aug</c:v>
                  </c:pt>
                  <c:pt idx="4">
                    <c:v>Sep</c:v>
                  </c:pt>
                  <c:pt idx="5">
                    <c:v>Oct</c:v>
                  </c:pt>
                  <c:pt idx="6">
                    <c:v>Nov</c:v>
                  </c:pt>
                  <c:pt idx="7">
                    <c:v>Dec</c:v>
                  </c:pt>
                  <c:pt idx="8">
                    <c:v>Jan'26</c:v>
                  </c:pt>
                  <c:pt idx="9">
                    <c:v>Feb</c:v>
                  </c:pt>
                  <c:pt idx="10">
                    <c:v>Mar</c:v>
                  </c:pt>
                  <c:pt idx="11">
                    <c:v>Apr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228</c:v>
                </c:pt>
                <c:pt idx="1">
                  <c:v>265</c:v>
                </c:pt>
                <c:pt idx="2">
                  <c:v>312</c:v>
                </c:pt>
                <c:pt idx="3">
                  <c:v>365</c:v>
                </c:pt>
                <c:pt idx="4">
                  <c:v>425</c:v>
                </c:pt>
                <c:pt idx="5">
                  <c:v>498</c:v>
                </c:pt>
                <c:pt idx="6">
                  <c:v>580</c:v>
                </c:pt>
                <c:pt idx="7">
                  <c:v>678</c:v>
                </c:pt>
                <c:pt idx="8">
                  <c:v>790</c:v>
                </c:pt>
                <c:pt idx="9">
                  <c:v>920</c:v>
                </c:pt>
                <c:pt idx="10">
                  <c:v>1040</c:v>
                </c:pt>
                <c:pt idx="11">
                  <c:v>1140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8D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2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8D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2EB"/>
        </a:solidFill>
        <a:ln>
          <a:noFill/>
        </a:ln>
        <a:effectLst/>
      </c:spPr>
    </c:plotArea>
    <c:plotVisOnly val="1"/>
    <c:dispBlanksAs val="span"/>
  </c:chart>
  <c:spPr>
    <a:solidFill>
      <a:srgbClr val="F5F2EB"/>
    </a:solidFill>
    <a:ln w="12700" cap="flat">
      <a:solidFill>
        <a:srgbClr val="F5F2EB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6.8</c:v>
                </c:pt>
                <c:pt idx="2">
                  <c:v>14.5</c:v>
                </c:pt>
                <c:pt idx="3">
                  <c:v>22.8</c:v>
                </c:pt>
                <c:pt idx="4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spPr>
            <a:solidFill>
              <a:srgbClr val="0A0E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-1.8</c:v>
                </c:pt>
                <c:pt idx="1">
                  <c:v>-1.2</c:v>
                </c:pt>
                <c:pt idx="2">
                  <c:v>0.6</c:v>
                </c:pt>
                <c:pt idx="3">
                  <c:v>3.4</c:v>
                </c:pt>
                <c:pt idx="4">
                  <c:v>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8D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2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8D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2E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2546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5F2E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566928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A0E27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566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 ·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CASH-FLOW INTELLIGENCE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</a:t>
            </a:r>
            <a:endParaRPr lang="en-US" sz="5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SME cash flow.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914400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 ·  Seeking $4.0M  ·  Lead investor secured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Ali Raza  ·  Data Analyst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 of failed SMEs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 cash-flow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SMEs operate blind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907792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break above 12 months of data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Bookkeepers report monthly — too late to act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reports are backward-looking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pull credit only after the crisis hits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forced to react, not plan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0" y="2560320"/>
            <a:ext cx="1874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4920" y="2724912"/>
            <a:ext cx="73152" cy="7315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28163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74920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SME failures cite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03720" y="2560320"/>
            <a:ext cx="1874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2724912"/>
            <a:ext cx="73152" cy="7315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8163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040880" y="32186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SME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3611880"/>
            <a:ext cx="1874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3776472"/>
            <a:ext cx="73152" cy="7315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8679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38h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74920" y="427024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time spent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cash reports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3611880"/>
            <a:ext cx="1874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3776472"/>
            <a:ext cx="73152" cy="7315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86791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40880" y="427024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cash-runway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visibility,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powered by ML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60604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834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8072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Forecast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309981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predicts 90-day cash position with 92% accuracy.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53712" y="260604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8346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0952" y="28072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30952" y="309981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cash gaps before they happen.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74904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77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9502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Actions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424281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credit, invoice nudges, vendor renegotiation.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53712" y="374904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9776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30952" y="39502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Integrations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30952" y="424281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connections to 40+ banks across 6 markets.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$8.4B serviceable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addressable market by 2028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·  SAM  ·  SOM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3657600" cy="384048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9718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29718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47288"/>
            <a:ext cx="2560320" cy="384048"/>
          </a:xfrm>
          <a:prstGeom prst="rect">
            <a:avLst/>
          </a:prstGeom>
          <a:solidFill>
            <a:srgbClr val="151A3D"/>
          </a:solidFill>
          <a:ln w="12700">
            <a:solidFill>
              <a:srgbClr val="151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44728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34472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$8.4B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922776"/>
            <a:ext cx="731520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9227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92277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$420M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606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95351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adoption past tipping point in LATAM/SEA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finance unlocks distribution at scale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cuts ML model build cost 5×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digitization accelerated post-2023 recession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 in 6 underserved markets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+ mobile. Integrates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everything you already use.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410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Bank, accounting, payroll — all in 3 clicks.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2395728" y="3474720"/>
            <a:ext cx="91440" cy="146304"/>
          </a:xfrm>
          <a:prstGeom prst="rtTriangl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6312" y="269748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79192" y="3410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9192" y="3703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crunches 24 months of history.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434840" y="3474720"/>
            <a:ext cx="91440" cy="146304"/>
          </a:xfrm>
          <a:prstGeom prst="rtTriangl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5424" y="269748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18304" y="3410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8304" y="3703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cash projection with confidence band.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473952" y="3474720"/>
            <a:ext cx="91440" cy="146304"/>
          </a:xfrm>
          <a:prstGeom prst="rtTriangl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74536" y="269748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7416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57416" y="3410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57416" y="3703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suggestions: collect, defer, finance.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 ARR growth in 12 months. NPS 67.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($K) — May 2025 to April 2026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4846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6916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$1.14M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77840" y="20025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as of April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2221992"/>
            <a:ext cx="3108960" cy="0"/>
          </a:xfrm>
          <a:prstGeom prst="line">
            <a:avLst/>
          </a:prstGeom>
          <a:noFill/>
          <a:ln w="6350">
            <a:solidFill>
              <a:srgbClr val="D5D2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22585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577840" y="25694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customers across 4 countries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788920"/>
            <a:ext cx="3108960" cy="0"/>
          </a:xfrm>
          <a:prstGeom prst="line">
            <a:avLst/>
          </a:prstGeom>
          <a:noFill/>
          <a:ln w="6350">
            <a:solidFill>
              <a:srgbClr val="D5D2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28254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NPS  67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577840" y="31363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average: 32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355848"/>
            <a:ext cx="3108960" cy="0"/>
          </a:xfrm>
          <a:prstGeom prst="line">
            <a:avLst/>
          </a:prstGeom>
          <a:noFill/>
          <a:ln w="6350">
            <a:solidFill>
              <a:srgbClr val="D5D2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33924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 / mo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577840" y="37033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for 9 consecutive months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3922776"/>
            <a:ext cx="3108960" cy="0"/>
          </a:xfrm>
          <a:prstGeom prst="line">
            <a:avLst/>
          </a:prstGeom>
          <a:noFill/>
          <a:ln w="6350">
            <a:solidFill>
              <a:srgbClr val="D5D2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3959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&lt;4 mo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77840" y="42702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(LTV/CAC = 6.8)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+ transaction fees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financing layer.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679192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1460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816352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</a:t>
            </a:r>
            <a:pPr indent="0" marL="0">
              <a:buNone/>
            </a:pPr>
            <a:r>
              <a:rPr lang="en-US" sz="14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130552" cy="0"/>
          </a:xfrm>
          <a:prstGeom prst="line">
            <a:avLst/>
          </a:prstGeom>
          <a:noFill/>
          <a:ln w="6350">
            <a:solidFill>
              <a:srgbClr val="D5D2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84448"/>
            <a:ext cx="2130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$250K monthly volume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+ accounting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2286000"/>
            <a:ext cx="2679192" cy="242316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18788" y="2167128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18788" y="2167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47872" y="251460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47872" y="2816352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$199</a:t>
            </a:r>
            <a:pPr indent="0" marL="0">
              <a:buNone/>
            </a:pPr>
            <a:r>
              <a:rPr lang="en-US" sz="1400" dirty="0">
                <a:solidFill>
                  <a:srgbClr val="C8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3547872" y="3474720"/>
            <a:ext cx="2130552" cy="0"/>
          </a:xfrm>
          <a:prstGeom prst="line">
            <a:avLst/>
          </a:prstGeom>
          <a:noFill/>
          <a:ln w="6350">
            <a:solidFill>
              <a:srgbClr val="151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3584448"/>
            <a:ext cx="2130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$2M monthly volume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Multi-entity, multi-currency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chat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2286000"/>
            <a:ext cx="2679192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514600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2816352"/>
            <a:ext cx="2130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pPr indent="0" marL="0">
              <a:buNone/>
            </a:pP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6364224" y="3474720"/>
            <a:ext cx="2130552" cy="0"/>
          </a:xfrm>
          <a:prstGeom prst="line">
            <a:avLst/>
          </a:prstGeom>
          <a:noFill/>
          <a:ln w="6350">
            <a:solidFill>
              <a:srgbClr val="D5D2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3584448"/>
            <a:ext cx="21305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volume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SAML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webhooks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optional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COMPETITION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accuracy + LATAM-first positioning.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forecast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ML-powered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banking (LATAM)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&lt; 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0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B8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 Strong   ·   ● Available   ·   — Missing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 who lived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199339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606040"/>
            <a:ext cx="868680" cy="8686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Restrepo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813048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4050792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Ex-Mercado Pago, scaled SME credit to 80K accounts.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9464" y="2331720"/>
            <a:ext cx="199339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43784" y="2606040"/>
            <a:ext cx="868680" cy="8686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43784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43784" y="35661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Souza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43784" y="3813048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43784" y="4050792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Ex-Stripe Latin America, 12 yrs ML platforms.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2331720"/>
            <a:ext cx="199339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2606040"/>
            <a:ext cx="868680" cy="8686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56048" y="35661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Lin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3813048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PRODUCT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56048" y="4050792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Ex-QuickBooks PM, built cash-flow module.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93992" y="2331720"/>
            <a:ext cx="199339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2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68312" y="2606040"/>
            <a:ext cx="868680" cy="8686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68312" y="356616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Mejía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68312" y="3813048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GTM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68312" y="4050792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Ex-Kavak, built sales org from 0 to 200.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FINANCIAL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$25M ARR.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Profitable in Year 4.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EBITDA forecast ($M)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542032"/>
          <a:ext cx="48463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60604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46520" y="2697480"/>
            <a:ext cx="2139696" cy="1188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282549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data + ML hires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577840" y="310896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46520" y="3200400"/>
            <a:ext cx="1426464" cy="1188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332841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— sales + marketing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77840" y="361188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46520" y="3703320"/>
            <a:ext cx="713232" cy="1188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83133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 (BR, MX, CO)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577840" y="411480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446520" y="4206240"/>
            <a:ext cx="475488" cy="1188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433425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+ buffer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C8CA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 </a:t>
            </a:r>
            <a:pPr indent="0" marL="0">
              <a:buNone/>
            </a:pPr>
            <a:r>
              <a:rPr lang="en-US" sz="6400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$4.0M</a:t>
            </a:r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Series 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2697480" cy="1005840"/>
          </a:xfrm>
          <a:prstGeom prst="rect">
            <a:avLst/>
          </a:prstGeom>
          <a:solidFill>
            <a:srgbClr val="151A3D"/>
          </a:solidFill>
          <a:ln w="12700">
            <a:solidFill>
              <a:srgbClr val="151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834640"/>
            <a:ext cx="269748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71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months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493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2834640"/>
            <a:ext cx="2697480" cy="1005840"/>
          </a:xfrm>
          <a:prstGeom prst="rect">
            <a:avLst/>
          </a:prstGeom>
          <a:solidFill>
            <a:srgbClr val="151A3D"/>
          </a:solidFill>
          <a:ln w="12700">
            <a:solidFill>
              <a:srgbClr val="151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19272" y="2834640"/>
            <a:ext cx="269748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2971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47872" y="3493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valuation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2834640"/>
            <a:ext cx="2697480" cy="1005840"/>
          </a:xfrm>
          <a:prstGeom prst="rect">
            <a:avLst/>
          </a:prstGeom>
          <a:solidFill>
            <a:srgbClr val="151A3D"/>
          </a:solidFill>
          <a:ln w="12700">
            <a:solidFill>
              <a:srgbClr val="151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2834640"/>
            <a:ext cx="269748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2971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9944" y="3493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investor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target: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 committed (lead)  ·  $2.5M open allocation for strategic angels &amp; funds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" y="457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914400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ana.restrepo@finflow.com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C8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+57 1 555 0141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 ·  Series A  · 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B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FinFlow Series A Pitch</dc:title>
  <dc:subject>PptxGenJS Presentation</dc:subject>
  <dc:creator>Ali Raza</dc:creator>
  <cp:lastModifiedBy>Ali Raza</cp:lastModifiedBy>
  <cp:revision>1</cp:revision>
  <dcterms:created xsi:type="dcterms:W3CDTF">2026-05-17T18:23:13Z</dcterms:created>
  <dcterms:modified xsi:type="dcterms:W3CDTF">2026-05-17T18:23:13Z</dcterms:modified>
</cp:coreProperties>
</file>