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2025</c:v>
                </c:pt>
              </c:strCache>
            </c:strRef>
          </c:tx>
          <c:spPr>
            <a:solidFill>
              <a:srgbClr val="8FA6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Title365</c:v>
                  </c:pt>
                  <c:pt idx="1">
                    <c:v>RPL-Title</c:v>
                  </c:pt>
                  <c:pt idx="2">
                    <c:v>Linear</c:v>
                  </c:pt>
                  <c:pt idx="3">
                    <c:v>HELOC</c:v>
                  </c:pt>
                  <c:pt idx="4">
                    <c:v>Trident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2850</c:v>
                </c:pt>
                <c:pt idx="2">
                  <c:v>2240</c:v>
                </c:pt>
                <c:pt idx="3">
                  <c:v>1820</c:v>
                </c:pt>
                <c:pt idx="4">
                  <c:v>1380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 2026</c:v>
                </c:pt>
              </c:strCache>
            </c:strRef>
          </c:tx>
          <c:spPr>
            <a:solidFill>
              <a:srgbClr val="1B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Title365</c:v>
                  </c:pt>
                  <c:pt idx="1">
                    <c:v>RPL-Title</c:v>
                  </c:pt>
                  <c:pt idx="2">
                    <c:v>Linear</c:v>
                  </c:pt>
                  <c:pt idx="3">
                    <c:v>HELOC</c:v>
                  </c:pt>
                  <c:pt idx="4">
                    <c:v>Trident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4710</c:v>
                </c:pt>
                <c:pt idx="1">
                  <c:v>3120</c:v>
                </c:pt>
                <c:pt idx="2">
                  <c:v>2755</c:v>
                </c:pt>
                <c:pt idx="3">
                  <c:v>2402</c:v>
                </c:pt>
                <c:pt idx="4">
                  <c:v>1863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EFE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4EF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0080"/>
            <a:ext cx="914400" cy="0"/>
          </a:xfrm>
          <a:prstGeom prst="line">
            <a:avLst/>
          </a:prstGeom>
          <a:noFill/>
          <a:ln w="19050">
            <a:solidFill>
              <a:srgbClr val="C96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6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731520" cy="0"/>
          </a:xfrm>
          <a:prstGeom prst="line">
            <a:avLst/>
          </a:prstGeom>
          <a:noFill/>
          <a:ln w="12700">
            <a:solidFill>
              <a:srgbClr val="C96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 Title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Service Center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3258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and YoY movement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0" y="1783080"/>
            <a:ext cx="457200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9280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by workflow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2350008"/>
            <a:ext cx="457200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45973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4597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improvements shipped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2916936"/>
            <a:ext cx="457200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02666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30266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Customer-impact stories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3483864"/>
            <a:ext cx="457200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359359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3593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forward look + asks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Ali Raza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HEADLINE KPIs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 vs Q1 2025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ORDERS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780</a:t>
            </a:r>
            <a:pPr indent="0" marL="0">
              <a:buNone/>
            </a:pP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3288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41732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5544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HANDLING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56432" y="1828800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</a:t>
            </a:r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min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456432" y="2450592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53288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-43%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41732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5544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27064" y="1828800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</a:t>
            </a:r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227064" y="2450592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2532888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-13.2pp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9067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SLA HIT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364992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98.1</a:t>
            </a:r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685800" y="3986784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690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+2.4pp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7832" y="295351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309067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ORDER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56432" y="3364992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$1.18</a:t>
            </a:r>
            <a:pPr indent="0" marL="0">
              <a:buNone/>
            </a:pP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3456432" y="3986784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40690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-22%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98464" y="295351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3090672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27064" y="3364992"/>
            <a:ext cx="2221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</a:t>
            </a:r>
            <a:pPr indent="0" marL="0">
              <a:buNone/>
            </a:pP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6227064" y="3986784"/>
            <a:ext cx="222199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4069080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pPr indent="0" marL="0">
              <a:buNone/>
            </a:pPr>
            <a:r>
              <a:rPr lang="en-US" sz="9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PIPELINE BY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HELOC volume up 32% YoY,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driving pipeline shift.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by workflow — Q1 2025 vs Q1 2026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33172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0" y="2468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0" y="2487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+32%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274320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Rate-driven surge across Q1.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999232"/>
            <a:ext cx="301752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063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0" y="3081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0" y="333756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clear lifted throughput.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593592"/>
            <a:ext cx="301752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657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0" y="3675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0" y="393192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Post-script-update gains held.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4187952"/>
            <a:ext cx="301752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4251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Title365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69280" y="42702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669280" y="45262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largest workflow by volume.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PROCESS IMPROVEMENTS SHIPPED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initiatives. All measured.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validation checklist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missing fields before submit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04872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+18%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throughput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371600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55448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live pipeline 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938528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for managers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331720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404872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time on reports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8464" y="1371600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1371600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554480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auto-classifier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1938528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orders to correct 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331720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404872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+22%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first-time-right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07792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9067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report consolidator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monthly 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867912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41064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 → 15min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 cycle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27832" y="290779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2907792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09067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 templates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0712" y="347472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reply pack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10712" y="3867912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3941064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−35%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response time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98464" y="2907792"/>
            <a:ext cx="26791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98464" y="2907792"/>
            <a:ext cx="36576" cy="14173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309067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portal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81344" y="347472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answers for client reps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3867912"/>
            <a:ext cx="2313432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3941064"/>
            <a:ext cx="2313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−28%</a:t>
            </a:r>
            <a:pPr indent="0" marL="0">
              <a:buNone/>
            </a:pPr>
            <a:r>
              <a:rPr lang="en-US" sz="90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internal tickets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CUSTOMER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frustrated to flagship account.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4 brokerage — case study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spc="4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Q4 2025, Region 4 broker complaints accounted for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all escalations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Root cause: unclear closing-status handoffs.
</a:t>
            </a:r>
            <a:pPr indent="0" marL="0">
              <a:lnSpc>
                <a:spcPct val="135000"/>
              </a:lnSpc>
              <a:buNone/>
            </a:pPr>
            <a:r>
              <a:rPr lang="en-US" sz="1100" b="1" spc="4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 new communication template plus nightly status push to all brokerage points-of-contact.
</a:t>
            </a:r>
            <a:pPr indent="0" marL="0">
              <a:lnSpc>
                <a:spcPct val="135000"/>
              </a:lnSpc>
              <a:buNone/>
            </a:pPr>
            <a:r>
              <a:rPr lang="en-US" sz="1100" b="1" spc="4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Outcome.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days, complaints dropped to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brokerage signed an extended preferred-vendor agreement worth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$480K annually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852160" y="1600200"/>
            <a:ext cx="2834640" cy="96012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600200"/>
            <a:ext cx="54864" cy="9601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7647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 → 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80760" y="2203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2651760"/>
            <a:ext cx="2834640" cy="96012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651760"/>
            <a:ext cx="54864" cy="9601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8163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days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3255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resolve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3703320"/>
            <a:ext cx="2834640" cy="96012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3703320"/>
            <a:ext cx="54864" cy="960120"/>
          </a:xfrm>
          <a:prstGeom prst="rect">
            <a:avLst/>
          </a:prstGeom>
          <a:solidFill>
            <a:srgbClr val="C9663F"/>
          </a:solidFill>
          <a:ln w="12700">
            <a:solidFill>
              <a:srgbClr val="C96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867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$480K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43068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annual 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Q2 2026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priorities. Twelve weeks.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45720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0" kern="0" dirty="0">
                <a:solidFill>
                  <a:srgbClr val="C96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Absorb HELOC surge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2240280" cy="0"/>
          </a:xfrm>
          <a:prstGeom prst="line">
            <a:avLst/>
          </a:prstGeom>
          <a:noFill/>
          <a:ln w="12700">
            <a:solidFill>
              <a:srgbClr val="C966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6 ops associates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auto-classifier v2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dashboard to all team leads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2697480" cy="45720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0" kern="0" dirty="0">
                <a:solidFill>
                  <a:srgbClr val="C96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first-time-right &gt; 90%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20440" y="2651760"/>
            <a:ext cx="2240280" cy="0"/>
          </a:xfrm>
          <a:prstGeom prst="line">
            <a:avLst/>
          </a:prstGeom>
          <a:noFill/>
          <a:ln w="12700">
            <a:solidFill>
              <a:srgbClr val="C966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7889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checklist library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monthly QA scorecards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LLM-assisted QC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0" kern="0" dirty="0">
                <a:solidFill>
                  <a:srgbClr val="C96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engagement to 4.4 / 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2651760"/>
            <a:ext cx="2240280" cy="0"/>
          </a:xfrm>
          <a:prstGeom prst="line">
            <a:avLst/>
          </a:prstGeom>
          <a:noFill/>
          <a:ln w="12700">
            <a:solidFill>
              <a:srgbClr val="C966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7889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Career-ladder rollout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1:1 cadence audit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learning stipend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ASKS OF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unlock Q2.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2807208"/>
            <a:ext cx="214884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535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Headcount approval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ops associates + 1 senior analyst by end of May 2026.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2807208"/>
            <a:ext cx="214884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9535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 budget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$24K to scale Power BI Premium licenses across all team leads.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783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0" kern="0" dirty="0">
                <a:solidFill>
                  <a:srgbClr val="9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807208"/>
            <a:ext cx="2148840" cy="0"/>
          </a:xfrm>
          <a:prstGeom prst="line">
            <a:avLst/>
          </a:prstGeom>
          <a:noFill/>
          <a:ln w="6350">
            <a:solidFill>
              <a:srgbClr val="D6C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535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Cross-functional sponsor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for the auto-classifier v2 launch.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·  Quarterly Business Review  ·  Stewart Title — Lahore Service Center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914400" cy="0"/>
          </a:xfrm>
          <a:prstGeom prst="line">
            <a:avLst/>
          </a:prstGeom>
          <a:noFill/>
          <a:ln w="19050">
            <a:solidFill>
              <a:srgbClr val="C966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6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QBR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6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914400" cy="0"/>
          </a:xfrm>
          <a:prstGeom prst="line">
            <a:avLst/>
          </a:prstGeom>
          <a:noFill/>
          <a:ln w="12700">
            <a:solidFill>
              <a:srgbClr val="C96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Stewart Title — Lahore Service Center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Ali Raza  ·  May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B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2026 QBR — Stewart Title</dc:title>
  <dc:subject>PptxGenJS Presentation</dc:subject>
  <dc:creator>Ali Raza</dc:creator>
  <cp:lastModifiedBy>Ali Raza</cp:lastModifiedBy>
  <cp:revision>1</cp:revision>
  <dcterms:created xsi:type="dcterms:W3CDTF">2026-05-17T18:28:12Z</dcterms:created>
  <dcterms:modified xsi:type="dcterms:W3CDTF">2026-05-17T18:28:12Z</dcterms:modified>
</cp:coreProperties>
</file>